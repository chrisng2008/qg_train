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82" r:id="rId4"/>
    <p:sldMasterId id="2147493496" r:id="rId5"/>
    <p:sldMasterId id="2147493509" r:id="rId6"/>
    <p:sldMasterId id="2147493522" r:id="rId7"/>
  </p:sldMasterIdLst>
  <p:notesMasterIdLst>
    <p:notesMasterId r:id="rId26"/>
  </p:notesMasterIdLst>
  <p:sldIdLst>
    <p:sldId id="259" r:id="rId8"/>
    <p:sldId id="268" r:id="rId9"/>
    <p:sldId id="275" r:id="rId10"/>
    <p:sldId id="274" r:id="rId11"/>
    <p:sldId id="273" r:id="rId12"/>
    <p:sldId id="282" r:id="rId13"/>
    <p:sldId id="269" r:id="rId14"/>
    <p:sldId id="276" r:id="rId15"/>
    <p:sldId id="278" r:id="rId16"/>
    <p:sldId id="277" r:id="rId17"/>
    <p:sldId id="283" r:id="rId18"/>
    <p:sldId id="272" r:id="rId19"/>
    <p:sldId id="281" r:id="rId20"/>
    <p:sldId id="285" r:id="rId21"/>
    <p:sldId id="284" r:id="rId22"/>
    <p:sldId id="280" r:id="rId23"/>
    <p:sldId id="279" r:id="rId24"/>
    <p:sldId id="286" r:id="rId25"/>
  </p:sldIdLst>
  <p:sldSz cx="12193588" cy="6858000"/>
  <p:notesSz cx="6858000" cy="9144000"/>
  <p:defaultTextStyle>
    <a:defPPr>
      <a:defRPr lang="en-US"/>
    </a:defPPr>
    <a:lvl1pPr marL="0" algn="l" defTabSz="6096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30" algn="l" defTabSz="6096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61" algn="l" defTabSz="6096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91" algn="l" defTabSz="6096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522" algn="l" defTabSz="6096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152" algn="l" defTabSz="6096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783" algn="l" defTabSz="6096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413" algn="l" defTabSz="6096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7044" algn="l" defTabSz="6096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3A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3389" autoAdjust="0"/>
    <p:restoredTop sz="91429"/>
  </p:normalViewPr>
  <p:slideViewPr>
    <p:cSldViewPr snapToGrid="0" snapToObjects="1">
      <p:cViewPr varScale="1">
        <p:scale>
          <a:sx n="80" d="100"/>
          <a:sy n="80" d="100"/>
        </p:scale>
        <p:origin x="-365" y="-82"/>
      </p:cViewPr>
      <p:guideLst>
        <p:guide orient="horz" pos="2160"/>
        <p:guide pos="384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6FCC11-95DA-442E-933F-F5304AB3F796}" type="datetimeFigureOut">
              <a:rPr lang="zh-CN" altLang="en-US" smtClean="0"/>
              <a:t>2021/4/17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740C4-B3C1-4262-B21E-40FE28E3EB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68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C740C4-B3C1-4262-B21E-40FE28E3EB1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619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C740C4-B3C1-4262-B21E-40FE28E3EB1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619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C740C4-B3C1-4262-B21E-40FE28E3EB1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619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C740C4-B3C1-4262-B21E-40FE28E3EB1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619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pattFill prst="pct5">
          <a:fgClr>
            <a:schemeClr val="tx2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467232" y="334455"/>
            <a:ext cx="5644403" cy="586316"/>
          </a:xfrm>
          <a:prstGeom prst="rect">
            <a:avLst/>
          </a:prstGeom>
        </p:spPr>
        <p:txBody>
          <a:bodyPr vert="horz" anchor="ctr"/>
          <a:lstStyle>
            <a:lvl1pPr marL="0" indent="0" algn="l">
              <a:buNone/>
              <a:defRPr sz="2667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sz="2667" dirty="0"/>
              <a:t>CLICK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HERE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TO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ADD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YOUR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TITLE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11209128" y="6094894"/>
            <a:ext cx="678875" cy="586316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2667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467232" y="273497"/>
            <a:ext cx="1800548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238061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004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pattFill prst="pct5">
          <a:fgClr>
            <a:schemeClr val="tx2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467232" y="334455"/>
            <a:ext cx="5644403" cy="586316"/>
          </a:xfrm>
          <a:prstGeom prst="rect">
            <a:avLst/>
          </a:prstGeom>
        </p:spPr>
        <p:txBody>
          <a:bodyPr vert="horz" anchor="ctr"/>
          <a:lstStyle>
            <a:lvl1pPr marL="0" indent="0" algn="l">
              <a:buNone/>
              <a:defRPr sz="2667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sz="2667" dirty="0"/>
              <a:t>CLICK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HERE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TO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ADD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YOUR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TITLE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11209128" y="6094894"/>
            <a:ext cx="678875" cy="586316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2667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467232" y="273497"/>
            <a:ext cx="1800548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865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941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pattFill prst="pct5">
          <a:fgClr>
            <a:schemeClr val="tx2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467232" y="334455"/>
            <a:ext cx="5644403" cy="586316"/>
          </a:xfrm>
          <a:prstGeom prst="rect">
            <a:avLst/>
          </a:prstGeom>
        </p:spPr>
        <p:txBody>
          <a:bodyPr vert="horz" anchor="ctr"/>
          <a:lstStyle>
            <a:lvl1pPr marL="0" indent="0" algn="l">
              <a:buNone/>
              <a:defRPr sz="2667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sz="2667" dirty="0"/>
              <a:t>CLICK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HERE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TO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ADD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YOUR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TITLE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11209128" y="6094894"/>
            <a:ext cx="678875" cy="586316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2667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467232" y="273497"/>
            <a:ext cx="1800548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780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285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pattFill prst="pct5">
          <a:fgClr>
            <a:schemeClr val="tx2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467232" y="334455"/>
            <a:ext cx="5644403" cy="586316"/>
          </a:xfrm>
          <a:prstGeom prst="rect">
            <a:avLst/>
          </a:prstGeom>
        </p:spPr>
        <p:txBody>
          <a:bodyPr vert="horz" anchor="ctr"/>
          <a:lstStyle>
            <a:lvl1pPr marL="0" indent="0" algn="l">
              <a:buNone/>
              <a:defRPr sz="2667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sz="2667" dirty="0"/>
              <a:t>CLICK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HERE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TO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ADD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YOUR</a:t>
            </a:r>
            <a:r>
              <a:rPr kumimoji="1" lang="zh-CN" altLang="en-US" sz="2667" dirty="0"/>
              <a:t> </a:t>
            </a:r>
            <a:r>
              <a:rPr kumimoji="1" lang="en-US" altLang="zh-CN" sz="2667" dirty="0"/>
              <a:t>TITLE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11209128" y="6094894"/>
            <a:ext cx="678875" cy="586316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2667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467232" y="273497"/>
            <a:ext cx="1800548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910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7434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365126"/>
            <a:ext cx="105169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1825625"/>
            <a:ext cx="105169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6356351"/>
            <a:ext cx="2743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6356351"/>
            <a:ext cx="4115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6356351"/>
            <a:ext cx="2743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931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94" r:id="rId1"/>
    <p:sldLayoutId id="214749347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365126"/>
            <a:ext cx="105169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1825625"/>
            <a:ext cx="105169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6356351"/>
            <a:ext cx="2743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6356351"/>
            <a:ext cx="4115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6356351"/>
            <a:ext cx="2743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15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508" r:id="rId1"/>
    <p:sldLayoutId id="214749347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365126"/>
            <a:ext cx="105169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1825625"/>
            <a:ext cx="105169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6356351"/>
            <a:ext cx="2743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6356351"/>
            <a:ext cx="4115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6356351"/>
            <a:ext cx="2743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62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521" r:id="rId1"/>
    <p:sldLayoutId id="214749347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365126"/>
            <a:ext cx="105169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1825625"/>
            <a:ext cx="105169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6356351"/>
            <a:ext cx="2743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>
                <a:solidFill>
                  <a:srgbClr val="FFFFFF">
                    <a:tint val="75000"/>
                  </a:srgbClr>
                </a:solidFill>
              </a:rPr>
              <a:pPr/>
              <a:t>4/17/2021</a:t>
            </a:fld>
            <a:endParaRPr lang="en-US" dirty="0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6356351"/>
            <a:ext cx="4115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6356351"/>
            <a:ext cx="2743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42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523" r:id="rId1"/>
    <p:sldLayoutId id="214749352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pPr lvl="0"/>
            <a:r>
              <a:rPr kumimoji="1" lang="en-US" altLang="zh-CN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2 0 2 1 Q G </a:t>
            </a:r>
            <a:r>
              <a:rPr kumimoji="1" lang="zh-CN" altLang="en-US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工 作 室 中 期 考 核 答 辩</a:t>
            </a:r>
            <a:endParaRPr kumimoji="1" lang="zh-CN" altLang="en-US" dirty="0">
              <a:solidFill>
                <a:srgbClr val="404040"/>
              </a:solidFill>
              <a:latin typeface="Century Gothic"/>
              <a:ea typeface="微软雅黑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33" y="3261755"/>
            <a:ext cx="12192000" cy="3325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grpSp>
        <p:nvGrpSpPr>
          <p:cNvPr id="4" name="组合 3"/>
          <p:cNvGrpSpPr/>
          <p:nvPr/>
        </p:nvGrpSpPr>
        <p:grpSpPr>
          <a:xfrm>
            <a:off x="858603" y="1535875"/>
            <a:ext cx="221673" cy="2002971"/>
            <a:chOff x="643356" y="1151906"/>
            <a:chExt cx="166255" cy="1502228"/>
          </a:xfrm>
        </p:grpSpPr>
        <p:sp>
          <p:nvSpPr>
            <p:cNvPr id="19" name="椭圆 18"/>
            <p:cNvSpPr/>
            <p:nvPr/>
          </p:nvSpPr>
          <p:spPr>
            <a:xfrm>
              <a:off x="643356" y="2487879"/>
              <a:ext cx="166255" cy="16625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cxnSp>
          <p:nvCxnSpPr>
            <p:cNvPr id="21" name="直线连接符 20"/>
            <p:cNvCxnSpPr>
              <a:stCxn id="19" idx="0"/>
            </p:cNvCxnSpPr>
            <p:nvPr/>
          </p:nvCxnSpPr>
          <p:spPr>
            <a:xfrm flipV="1">
              <a:off x="726484" y="1151906"/>
              <a:ext cx="0" cy="1335973"/>
            </a:xfrm>
            <a:prstGeom prst="line">
              <a:avLst/>
            </a:prstGeom>
            <a:ln w="19050">
              <a:solidFill>
                <a:schemeClr val="accent1">
                  <a:alpha val="99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文本框 8"/>
          <p:cNvSpPr txBox="1"/>
          <p:nvPr/>
        </p:nvSpPr>
        <p:spPr>
          <a:xfrm>
            <a:off x="1080277" y="2071695"/>
            <a:ext cx="2408275" cy="625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>
              <a:lnSpc>
                <a:spcPct val="130000"/>
              </a:lnSpc>
            </a:pPr>
            <a:r>
              <a:rPr lang="zh-CN" altLang="en-US" sz="1333" dirty="0" smtClean="0">
                <a:solidFill>
                  <a:schemeClr val="accent6"/>
                </a:solidFill>
                <a:latin typeface="微软雅黑" charset="0"/>
                <a:ea typeface="微软雅黑" charset="0"/>
              </a:rPr>
              <a:t>使用</a:t>
            </a:r>
            <a:r>
              <a:rPr lang="en-US" altLang="zh-CN" sz="1333" dirty="0" err="1" smtClean="0">
                <a:solidFill>
                  <a:schemeClr val="accent6"/>
                </a:solidFill>
                <a:latin typeface="微软雅黑" charset="0"/>
                <a:ea typeface="微软雅黑" charset="0"/>
              </a:rPr>
              <a:t>snsborn</a:t>
            </a:r>
            <a:r>
              <a:rPr lang="zh-CN" altLang="en-US" sz="1333" dirty="0" smtClean="0">
                <a:solidFill>
                  <a:schemeClr val="accent6"/>
                </a:solidFill>
                <a:latin typeface="微软雅黑" charset="0"/>
                <a:ea typeface="微软雅黑" charset="0"/>
              </a:rPr>
              <a:t>来可视化数据，探索数据之间的联系</a:t>
            </a:r>
            <a:endParaRPr lang="zh-CN" altLang="en-US" sz="1333" dirty="0">
              <a:solidFill>
                <a:schemeClr val="accent6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080276" y="171004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1" dirty="0" smtClean="0">
                <a:solidFill>
                  <a:schemeClr val="accent6"/>
                </a:solidFill>
                <a:latin typeface="Century Gothic"/>
                <a:ea typeface="微软雅黑" charset="0"/>
              </a:rPr>
              <a:t>数据可视化</a:t>
            </a:r>
            <a:endParaRPr lang="zh-CN" altLang="en-US" sz="1800" b="1" dirty="0">
              <a:solidFill>
                <a:schemeClr val="accent6"/>
              </a:solidFill>
              <a:latin typeface="Century Gothic"/>
              <a:ea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080274" y="1232837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chemeClr val="accent1"/>
                </a:solidFill>
                <a:latin typeface="Century Gothic"/>
                <a:ea typeface="微软雅黑" charset="0"/>
              </a:rPr>
              <a:t>数据探索</a:t>
            </a:r>
            <a:endParaRPr lang="zh-CN" altLang="en-US" sz="3200" b="1" dirty="0">
              <a:solidFill>
                <a:schemeClr val="accent1"/>
              </a:solidFill>
              <a:latin typeface="Century Gothic"/>
              <a:ea typeface="微软雅黑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368491" y="3317172"/>
            <a:ext cx="221673" cy="1990765"/>
            <a:chOff x="2525772" y="2487879"/>
            <a:chExt cx="166255" cy="1493074"/>
          </a:xfrm>
        </p:grpSpPr>
        <p:sp>
          <p:nvSpPr>
            <p:cNvPr id="42" name="椭圆 41"/>
            <p:cNvSpPr/>
            <p:nvPr/>
          </p:nvSpPr>
          <p:spPr>
            <a:xfrm>
              <a:off x="2525772" y="2487879"/>
              <a:ext cx="166255" cy="16625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cxnSp>
          <p:nvCxnSpPr>
            <p:cNvPr id="55" name="直线连接符 54"/>
            <p:cNvCxnSpPr/>
            <p:nvPr/>
          </p:nvCxnSpPr>
          <p:spPr>
            <a:xfrm>
              <a:off x="2608900" y="2644980"/>
              <a:ext cx="0" cy="1335973"/>
            </a:xfrm>
            <a:prstGeom prst="line">
              <a:avLst/>
            </a:prstGeom>
            <a:ln w="19050">
              <a:solidFill>
                <a:schemeClr val="accent2">
                  <a:alpha val="99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文本框 8"/>
          <p:cNvSpPr txBox="1"/>
          <p:nvPr/>
        </p:nvSpPr>
        <p:spPr>
          <a:xfrm>
            <a:off x="3590165" y="4486337"/>
            <a:ext cx="2408275" cy="35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>
              <a:lnSpc>
                <a:spcPct val="130000"/>
              </a:lnSpc>
            </a:pPr>
            <a:r>
              <a:rPr lang="zh-CN" altLang="en-US" sz="1333" dirty="0" smtClean="0">
                <a:solidFill>
                  <a:schemeClr val="accent6"/>
                </a:solidFill>
                <a:latin typeface="微软雅黑" charset="0"/>
                <a:ea typeface="微软雅黑" charset="0"/>
              </a:rPr>
              <a:t>通过建模拟合预测缺失值</a:t>
            </a:r>
            <a:endParaRPr lang="zh-CN" altLang="en-US" sz="1333" dirty="0">
              <a:solidFill>
                <a:schemeClr val="accent6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590164" y="412468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1" dirty="0" smtClean="0">
                <a:solidFill>
                  <a:schemeClr val="accent6"/>
                </a:solidFill>
                <a:latin typeface="Century Gothic"/>
                <a:ea typeface="微软雅黑" charset="0"/>
              </a:rPr>
              <a:t>处理缺失值</a:t>
            </a:r>
            <a:endParaRPr lang="zh-CN" altLang="en-US" sz="1800" b="1" dirty="0">
              <a:solidFill>
                <a:schemeClr val="accent6"/>
              </a:solidFill>
              <a:latin typeface="Century Gothic"/>
              <a:ea typeface="微软雅黑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590162" y="3647478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chemeClr val="accent2"/>
                </a:solidFill>
                <a:latin typeface="Century Gothic"/>
                <a:ea typeface="微软雅黑" charset="0"/>
              </a:rPr>
              <a:t>数据清洗</a:t>
            </a:r>
            <a:endParaRPr lang="zh-CN" altLang="en-US" sz="3200" b="1" dirty="0">
              <a:solidFill>
                <a:schemeClr val="accent2"/>
              </a:solidFill>
              <a:latin typeface="Century Gothic"/>
              <a:ea typeface="微软雅黑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878379" y="1535875"/>
            <a:ext cx="221673" cy="2002971"/>
            <a:chOff x="4408188" y="1151906"/>
            <a:chExt cx="166255" cy="1502228"/>
          </a:xfrm>
        </p:grpSpPr>
        <p:sp>
          <p:nvSpPr>
            <p:cNvPr id="43" name="椭圆 42"/>
            <p:cNvSpPr/>
            <p:nvPr/>
          </p:nvSpPr>
          <p:spPr>
            <a:xfrm>
              <a:off x="4408188" y="2487879"/>
              <a:ext cx="166255" cy="16625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cxnSp>
          <p:nvCxnSpPr>
            <p:cNvPr id="59" name="直线连接符 58"/>
            <p:cNvCxnSpPr/>
            <p:nvPr/>
          </p:nvCxnSpPr>
          <p:spPr>
            <a:xfrm flipV="1">
              <a:off x="4491315" y="1151906"/>
              <a:ext cx="0" cy="1335973"/>
            </a:xfrm>
            <a:prstGeom prst="line">
              <a:avLst/>
            </a:prstGeom>
            <a:ln w="19050">
              <a:solidFill>
                <a:schemeClr val="accent3">
                  <a:alpha val="99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文本框 8"/>
          <p:cNvSpPr txBox="1"/>
          <p:nvPr/>
        </p:nvSpPr>
        <p:spPr>
          <a:xfrm>
            <a:off x="6100051" y="2071695"/>
            <a:ext cx="2408275" cy="625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>
              <a:lnSpc>
                <a:spcPct val="130000"/>
              </a:lnSpc>
            </a:pPr>
            <a:r>
              <a:rPr lang="zh-CN" altLang="en-US" sz="1333" dirty="0" smtClean="0">
                <a:solidFill>
                  <a:schemeClr val="accent6"/>
                </a:solidFill>
                <a:latin typeface="微软雅黑" charset="0"/>
                <a:ea typeface="微软雅黑" charset="0"/>
              </a:rPr>
              <a:t>对字符串标签进行独热处理，提高模型准确性</a:t>
            </a:r>
            <a:endParaRPr lang="zh-CN" altLang="en-US" sz="1333" dirty="0">
              <a:solidFill>
                <a:schemeClr val="accent6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100051" y="171004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1" dirty="0" smtClean="0">
                <a:solidFill>
                  <a:schemeClr val="accent6"/>
                </a:solidFill>
                <a:latin typeface="Century Gothic"/>
                <a:ea typeface="微软雅黑" charset="0"/>
              </a:rPr>
              <a:t>独热处理</a:t>
            </a:r>
            <a:endParaRPr lang="zh-CN" altLang="en-US" sz="1800" b="1" dirty="0">
              <a:solidFill>
                <a:schemeClr val="accent6"/>
              </a:solidFill>
              <a:latin typeface="Century Gothic"/>
              <a:ea typeface="微软雅黑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6100049" y="1232837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chemeClr val="accent3"/>
                </a:solidFill>
                <a:latin typeface="Century Gothic"/>
                <a:ea typeface="微软雅黑" charset="0"/>
              </a:rPr>
              <a:t>特征工程</a:t>
            </a:r>
            <a:endParaRPr lang="zh-CN" altLang="en-US" sz="3200" b="1" dirty="0">
              <a:solidFill>
                <a:schemeClr val="accent3"/>
              </a:solidFill>
              <a:latin typeface="Century Gothic"/>
              <a:ea typeface="微软雅黑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388267" y="3317172"/>
            <a:ext cx="221673" cy="1990765"/>
            <a:chOff x="6290604" y="2487879"/>
            <a:chExt cx="166255" cy="1493074"/>
          </a:xfrm>
        </p:grpSpPr>
        <p:sp>
          <p:nvSpPr>
            <p:cNvPr id="46" name="椭圆 45"/>
            <p:cNvSpPr/>
            <p:nvPr/>
          </p:nvSpPr>
          <p:spPr>
            <a:xfrm>
              <a:off x="6290604" y="2487879"/>
              <a:ext cx="166255" cy="16625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cxnSp>
          <p:nvCxnSpPr>
            <p:cNvPr id="63" name="直线连接符 62"/>
            <p:cNvCxnSpPr/>
            <p:nvPr/>
          </p:nvCxnSpPr>
          <p:spPr>
            <a:xfrm>
              <a:off x="6373731" y="2644980"/>
              <a:ext cx="0" cy="1335973"/>
            </a:xfrm>
            <a:prstGeom prst="line">
              <a:avLst/>
            </a:prstGeom>
            <a:ln w="19050">
              <a:solidFill>
                <a:schemeClr val="tx2">
                  <a:alpha val="99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文本框 8"/>
          <p:cNvSpPr txBox="1"/>
          <p:nvPr/>
        </p:nvSpPr>
        <p:spPr>
          <a:xfrm>
            <a:off x="8609939" y="4486337"/>
            <a:ext cx="2408275" cy="625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>
              <a:lnSpc>
                <a:spcPct val="130000"/>
              </a:lnSpc>
            </a:pPr>
            <a:r>
              <a:rPr lang="zh-CN" altLang="en-US" sz="1333" dirty="0" smtClean="0">
                <a:solidFill>
                  <a:schemeClr val="accent6"/>
                </a:solidFill>
                <a:latin typeface="微软雅黑" charset="0"/>
                <a:ea typeface="微软雅黑" charset="0"/>
              </a:rPr>
              <a:t>主要运用逻辑回归，梯度上升树</a:t>
            </a:r>
            <a:r>
              <a:rPr lang="zh-CN" altLang="en-US" sz="1333" dirty="0" smtClean="0">
                <a:solidFill>
                  <a:schemeClr val="accent6"/>
                </a:solidFill>
                <a:latin typeface="微软雅黑" charset="0"/>
                <a:ea typeface="微软雅黑" charset="0"/>
              </a:rPr>
              <a:t>，随机</a:t>
            </a:r>
            <a:r>
              <a:rPr lang="zh-CN" altLang="en-US" sz="1333" dirty="0" smtClean="0">
                <a:solidFill>
                  <a:schemeClr val="accent6"/>
                </a:solidFill>
                <a:latin typeface="微软雅黑" charset="0"/>
                <a:ea typeface="微软雅黑" charset="0"/>
              </a:rPr>
              <a:t>森林</a:t>
            </a:r>
            <a:endParaRPr lang="zh-CN" altLang="en-US" sz="1333" dirty="0">
              <a:solidFill>
                <a:schemeClr val="accent6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8609939" y="412468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1" dirty="0" smtClean="0">
                <a:solidFill>
                  <a:schemeClr val="accent6"/>
                </a:solidFill>
                <a:latin typeface="Century Gothic"/>
                <a:ea typeface="微软雅黑" charset="0"/>
              </a:rPr>
              <a:t>建立多种模型</a:t>
            </a:r>
            <a:endParaRPr lang="zh-CN" altLang="en-US" sz="1800" b="1" dirty="0">
              <a:solidFill>
                <a:schemeClr val="accent6"/>
              </a:solidFill>
              <a:latin typeface="Century Gothic"/>
              <a:ea typeface="微软雅黑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8609937" y="3647478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chemeClr val="tx2"/>
                </a:solidFill>
                <a:latin typeface="Century Gothic"/>
                <a:ea typeface="微软雅黑" charset="0"/>
              </a:rPr>
              <a:t>建模预测</a:t>
            </a:r>
            <a:endParaRPr lang="zh-CN" altLang="en-US" sz="3200" b="1" dirty="0">
              <a:solidFill>
                <a:schemeClr val="tx2"/>
              </a:solidFill>
              <a:latin typeface="Century Gothic"/>
              <a:ea typeface="微软雅黑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45695" y="6105421"/>
            <a:ext cx="4019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2"/>
                </a:solidFill>
              </a:rPr>
              <a:t>报告人 ：伍泳喜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667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kumimoji="1" lang="zh-CN" altLang="en-US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数 据 探 索</a:t>
            </a:r>
            <a:endParaRPr kumimoji="1" lang="zh-CN" altLang="en-US" dirty="0">
              <a:solidFill>
                <a:srgbClr val="404040"/>
              </a:solidFill>
              <a:latin typeface="Century Gothic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 smtClean="0"/>
              <a:t>01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326"/>
            <a:ext cx="10058400" cy="50906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5170" y="5633229"/>
            <a:ext cx="6556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bg2"/>
                </a:solidFill>
              </a:rPr>
              <a:t>msno.matrix</a:t>
            </a:r>
            <a:r>
              <a:rPr lang="en-US" altLang="zh-CN" dirty="0">
                <a:solidFill>
                  <a:schemeClr val="bg2"/>
                </a:solidFill>
              </a:rPr>
              <a:t>(</a:t>
            </a:r>
            <a:r>
              <a:rPr lang="en-US" altLang="zh-CN" dirty="0" err="1">
                <a:solidFill>
                  <a:schemeClr val="bg2"/>
                </a:solidFill>
              </a:rPr>
              <a:t>train_df.sample</a:t>
            </a:r>
            <a:r>
              <a:rPr lang="en-US" altLang="zh-CN" dirty="0">
                <a:solidFill>
                  <a:schemeClr val="bg2"/>
                </a:solidFill>
              </a:rPr>
              <a:t>(500))#</a:t>
            </a:r>
            <a:r>
              <a:rPr lang="zh-CN" altLang="en-US" dirty="0">
                <a:solidFill>
                  <a:schemeClr val="bg2"/>
                </a:solidFill>
              </a:rPr>
              <a:t>可视化缺失</a:t>
            </a:r>
            <a:r>
              <a:rPr lang="zh-CN" altLang="en-US" dirty="0" smtClean="0">
                <a:solidFill>
                  <a:schemeClr val="bg2"/>
                </a:solidFill>
              </a:rPr>
              <a:t>值</a:t>
            </a:r>
            <a:endParaRPr lang="zh-CN" altLang="en-US" dirty="0">
              <a:solidFill>
                <a:schemeClr val="bg2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461" y="2443612"/>
            <a:ext cx="2370025" cy="245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5173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kumimoji="1" lang="zh-CN" altLang="en-US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数 据 探 索</a:t>
            </a:r>
            <a:endParaRPr kumimoji="1" lang="zh-CN" altLang="en-US" dirty="0">
              <a:solidFill>
                <a:srgbClr val="404040"/>
              </a:solidFill>
              <a:latin typeface="Century Gothic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 smtClean="0"/>
              <a:t>02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14" y="1035122"/>
            <a:ext cx="3240000" cy="217377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128" y="1006670"/>
            <a:ext cx="3240000" cy="21822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192" y="1006670"/>
            <a:ext cx="3240000" cy="22306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14" y="3529955"/>
            <a:ext cx="3240000" cy="22306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192" y="3529954"/>
            <a:ext cx="3240000" cy="21737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691" y="3456730"/>
            <a:ext cx="3543098" cy="237713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1389" y="6112147"/>
            <a:ext cx="28368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Age</a:t>
            </a:r>
            <a:r>
              <a:rPr lang="zh-CN" altLang="en-US" dirty="0" smtClean="0">
                <a:solidFill>
                  <a:schemeClr val="bg2"/>
                </a:solidFill>
              </a:rPr>
              <a:t>与各特征的关系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0089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kumimoji="1" lang="zh-CN" altLang="en-US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数 据 探 索</a:t>
            </a:r>
            <a:endParaRPr kumimoji="1" lang="zh-CN" altLang="en-US" dirty="0">
              <a:solidFill>
                <a:srgbClr val="404040"/>
              </a:solidFill>
              <a:latin typeface="Century Gothic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 smtClean="0"/>
              <a:t>03</a:t>
            </a:r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40" y="1422138"/>
            <a:ext cx="3240000" cy="21682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631" y="1422138"/>
            <a:ext cx="3240000" cy="216824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631" y="1422138"/>
            <a:ext cx="3367906" cy="221150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40" y="3633645"/>
            <a:ext cx="3240000" cy="2168244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6537" y="3633645"/>
            <a:ext cx="3240000" cy="223068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631" y="3696081"/>
            <a:ext cx="3240000" cy="21682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79115" y="6094894"/>
            <a:ext cx="3265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通过率与各特征的关系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0089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551" y="1330200"/>
            <a:ext cx="3529687" cy="1951009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kumimoji="1" lang="zh-CN" altLang="en-US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数 据 探 索</a:t>
            </a:r>
            <a:endParaRPr kumimoji="1" lang="zh-CN" altLang="en-US" dirty="0">
              <a:solidFill>
                <a:srgbClr val="404040"/>
              </a:solidFill>
              <a:latin typeface="Century Gothic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 smtClean="0"/>
              <a:t>04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75" y="1347174"/>
            <a:ext cx="2931576" cy="191792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530" y="1330200"/>
            <a:ext cx="3122763" cy="203523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619" y="3200377"/>
            <a:ext cx="2997619" cy="196112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993" y="3200377"/>
            <a:ext cx="3051005" cy="199605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1" y="3200377"/>
            <a:ext cx="2997620" cy="196112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1998" y="1330200"/>
            <a:ext cx="2930632" cy="201768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1998" y="3200377"/>
            <a:ext cx="2904638" cy="201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0089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pPr lvl="0"/>
            <a:r>
              <a:rPr kumimoji="1" lang="en-US" altLang="zh-CN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2 0 2 1 Q G </a:t>
            </a:r>
            <a:r>
              <a:rPr kumimoji="1" lang="zh-CN" altLang="en-US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工 作 室 中 期 考 核 答 辩</a:t>
            </a:r>
            <a:endParaRPr kumimoji="1" lang="zh-CN" altLang="en-US" dirty="0">
              <a:solidFill>
                <a:srgbClr val="404040"/>
              </a:solidFill>
              <a:latin typeface="Century Gothic"/>
              <a:ea typeface="微软雅黑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33" y="3261755"/>
            <a:ext cx="12192000" cy="3325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>
              <a:solidFill>
                <a:srgbClr val="40404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58603" y="1535875"/>
            <a:ext cx="221673" cy="2002971"/>
            <a:chOff x="643356" y="1151906"/>
            <a:chExt cx="166255" cy="1502228"/>
          </a:xfrm>
        </p:grpSpPr>
        <p:sp>
          <p:nvSpPr>
            <p:cNvPr id="19" name="椭圆 18"/>
            <p:cNvSpPr/>
            <p:nvPr/>
          </p:nvSpPr>
          <p:spPr>
            <a:xfrm>
              <a:off x="643356" y="2487879"/>
              <a:ext cx="166255" cy="16625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>
                <a:solidFill>
                  <a:srgbClr val="404040"/>
                </a:solidFill>
              </a:endParaRPr>
            </a:p>
          </p:txBody>
        </p:sp>
        <p:cxnSp>
          <p:nvCxnSpPr>
            <p:cNvPr id="21" name="直线连接符 20"/>
            <p:cNvCxnSpPr>
              <a:stCxn id="19" idx="0"/>
            </p:cNvCxnSpPr>
            <p:nvPr/>
          </p:nvCxnSpPr>
          <p:spPr>
            <a:xfrm flipV="1">
              <a:off x="726484" y="1151906"/>
              <a:ext cx="0" cy="1335973"/>
            </a:xfrm>
            <a:prstGeom prst="line">
              <a:avLst/>
            </a:prstGeom>
            <a:ln w="19050">
              <a:solidFill>
                <a:schemeClr val="accent1">
                  <a:alpha val="99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文本框 8"/>
          <p:cNvSpPr txBox="1"/>
          <p:nvPr/>
        </p:nvSpPr>
        <p:spPr>
          <a:xfrm>
            <a:off x="1080277" y="2071695"/>
            <a:ext cx="2408275" cy="625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>
              <a:lnSpc>
                <a:spcPct val="130000"/>
              </a:lnSpc>
            </a:pPr>
            <a:r>
              <a:rPr lang="zh-CN" altLang="en-US" sz="1333" dirty="0" smtClean="0">
                <a:solidFill>
                  <a:srgbClr val="565F69"/>
                </a:solidFill>
                <a:latin typeface="微软雅黑" charset="0"/>
                <a:ea typeface="微软雅黑" charset="0"/>
              </a:rPr>
              <a:t>使用</a:t>
            </a:r>
            <a:r>
              <a:rPr lang="en-US" altLang="zh-CN" sz="1333" dirty="0" err="1" smtClean="0">
                <a:solidFill>
                  <a:srgbClr val="565F69"/>
                </a:solidFill>
                <a:latin typeface="微软雅黑" charset="0"/>
                <a:ea typeface="微软雅黑" charset="0"/>
              </a:rPr>
              <a:t>snsborn</a:t>
            </a:r>
            <a:r>
              <a:rPr lang="zh-CN" altLang="en-US" sz="1333" dirty="0" smtClean="0">
                <a:solidFill>
                  <a:srgbClr val="565F69"/>
                </a:solidFill>
                <a:latin typeface="微软雅黑" charset="0"/>
                <a:ea typeface="微软雅黑" charset="0"/>
              </a:rPr>
              <a:t>来可视化数据，探索数据之间的联系</a:t>
            </a:r>
            <a:endParaRPr lang="zh-CN" altLang="en-US" sz="1333" dirty="0">
              <a:solidFill>
                <a:srgbClr val="565F6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080276" y="171004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1" dirty="0" smtClean="0">
                <a:solidFill>
                  <a:srgbClr val="565F69"/>
                </a:solidFill>
                <a:latin typeface="Century Gothic"/>
                <a:ea typeface="微软雅黑" charset="0"/>
              </a:rPr>
              <a:t>数据可视化</a:t>
            </a:r>
            <a:endParaRPr lang="zh-CN" altLang="en-US" sz="1800" b="1" dirty="0">
              <a:solidFill>
                <a:srgbClr val="565F69"/>
              </a:solidFill>
              <a:latin typeface="Century Gothic"/>
              <a:ea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080274" y="1232837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0FCAB7"/>
                </a:solidFill>
                <a:latin typeface="Century Gothic"/>
                <a:ea typeface="微软雅黑" charset="0"/>
              </a:rPr>
              <a:t>数据探索</a:t>
            </a:r>
            <a:endParaRPr lang="zh-CN" altLang="en-US" sz="3200" b="1" dirty="0">
              <a:solidFill>
                <a:srgbClr val="0FCAB7"/>
              </a:solidFill>
              <a:latin typeface="Century Gothic"/>
              <a:ea typeface="微软雅黑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368491" y="3317172"/>
            <a:ext cx="221673" cy="1990765"/>
            <a:chOff x="2525772" y="2487879"/>
            <a:chExt cx="166255" cy="1493074"/>
          </a:xfrm>
        </p:grpSpPr>
        <p:sp>
          <p:nvSpPr>
            <p:cNvPr id="42" name="椭圆 41"/>
            <p:cNvSpPr/>
            <p:nvPr/>
          </p:nvSpPr>
          <p:spPr>
            <a:xfrm>
              <a:off x="2525772" y="2487879"/>
              <a:ext cx="166255" cy="16625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>
                <a:solidFill>
                  <a:srgbClr val="404040"/>
                </a:solidFill>
              </a:endParaRPr>
            </a:p>
          </p:txBody>
        </p:sp>
        <p:cxnSp>
          <p:nvCxnSpPr>
            <p:cNvPr id="55" name="直线连接符 54"/>
            <p:cNvCxnSpPr/>
            <p:nvPr/>
          </p:nvCxnSpPr>
          <p:spPr>
            <a:xfrm>
              <a:off x="2608900" y="2644980"/>
              <a:ext cx="0" cy="1335973"/>
            </a:xfrm>
            <a:prstGeom prst="line">
              <a:avLst/>
            </a:prstGeom>
            <a:ln w="19050">
              <a:solidFill>
                <a:schemeClr val="accent2">
                  <a:alpha val="99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文本框 8"/>
          <p:cNvSpPr txBox="1"/>
          <p:nvPr/>
        </p:nvSpPr>
        <p:spPr>
          <a:xfrm>
            <a:off x="3590165" y="4486337"/>
            <a:ext cx="2408275" cy="35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>
              <a:lnSpc>
                <a:spcPct val="130000"/>
              </a:lnSpc>
            </a:pPr>
            <a:r>
              <a:rPr lang="zh-CN" altLang="en-US" sz="1333" dirty="0" smtClean="0">
                <a:solidFill>
                  <a:srgbClr val="565F69"/>
                </a:solidFill>
                <a:latin typeface="微软雅黑" charset="0"/>
                <a:ea typeface="微软雅黑" charset="0"/>
              </a:rPr>
              <a:t>通过建模拟合预测缺失值</a:t>
            </a:r>
            <a:endParaRPr lang="zh-CN" altLang="en-US" sz="1333" dirty="0">
              <a:solidFill>
                <a:srgbClr val="565F6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590164" y="412468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1" dirty="0" smtClean="0">
                <a:solidFill>
                  <a:srgbClr val="565F69"/>
                </a:solidFill>
                <a:latin typeface="Century Gothic"/>
                <a:ea typeface="微软雅黑" charset="0"/>
              </a:rPr>
              <a:t>处理缺失值</a:t>
            </a:r>
            <a:endParaRPr lang="zh-CN" altLang="en-US" sz="1800" b="1" dirty="0">
              <a:solidFill>
                <a:srgbClr val="565F69"/>
              </a:solidFill>
              <a:latin typeface="Century Gothic"/>
              <a:ea typeface="微软雅黑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590162" y="3647478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FDD031"/>
                </a:solidFill>
                <a:latin typeface="Century Gothic"/>
                <a:ea typeface="微软雅黑" charset="0"/>
              </a:rPr>
              <a:t>数据清洗</a:t>
            </a:r>
            <a:endParaRPr lang="zh-CN" altLang="en-US" sz="3200" b="1" dirty="0">
              <a:solidFill>
                <a:srgbClr val="FDD031"/>
              </a:solidFill>
              <a:latin typeface="Century Gothic"/>
              <a:ea typeface="微软雅黑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878379" y="1535875"/>
            <a:ext cx="221673" cy="2002971"/>
            <a:chOff x="4408188" y="1151906"/>
            <a:chExt cx="166255" cy="1502228"/>
          </a:xfrm>
        </p:grpSpPr>
        <p:sp>
          <p:nvSpPr>
            <p:cNvPr id="43" name="椭圆 42"/>
            <p:cNvSpPr/>
            <p:nvPr/>
          </p:nvSpPr>
          <p:spPr>
            <a:xfrm>
              <a:off x="4408188" y="2487879"/>
              <a:ext cx="166255" cy="16625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>
                <a:solidFill>
                  <a:srgbClr val="404040"/>
                </a:solidFill>
              </a:endParaRPr>
            </a:p>
          </p:txBody>
        </p:sp>
        <p:cxnSp>
          <p:nvCxnSpPr>
            <p:cNvPr id="59" name="直线连接符 58"/>
            <p:cNvCxnSpPr/>
            <p:nvPr/>
          </p:nvCxnSpPr>
          <p:spPr>
            <a:xfrm flipV="1">
              <a:off x="4491315" y="1151906"/>
              <a:ext cx="0" cy="1335973"/>
            </a:xfrm>
            <a:prstGeom prst="line">
              <a:avLst/>
            </a:prstGeom>
            <a:ln w="19050">
              <a:solidFill>
                <a:schemeClr val="accent3">
                  <a:alpha val="99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文本框 8"/>
          <p:cNvSpPr txBox="1"/>
          <p:nvPr/>
        </p:nvSpPr>
        <p:spPr>
          <a:xfrm>
            <a:off x="6100051" y="2071695"/>
            <a:ext cx="2408275" cy="625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>
              <a:lnSpc>
                <a:spcPct val="130000"/>
              </a:lnSpc>
            </a:pPr>
            <a:r>
              <a:rPr lang="zh-CN" altLang="en-US" sz="1333" dirty="0" smtClean="0">
                <a:solidFill>
                  <a:srgbClr val="565F69"/>
                </a:solidFill>
                <a:latin typeface="微软雅黑" charset="0"/>
                <a:ea typeface="微软雅黑" charset="0"/>
              </a:rPr>
              <a:t>对字符串标签进行独热处理，提高模型准确性</a:t>
            </a:r>
            <a:endParaRPr lang="zh-CN" altLang="en-US" sz="1333" dirty="0">
              <a:solidFill>
                <a:srgbClr val="565F6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100051" y="171004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1" dirty="0" smtClean="0">
                <a:solidFill>
                  <a:srgbClr val="565F69"/>
                </a:solidFill>
                <a:latin typeface="Century Gothic"/>
                <a:ea typeface="微软雅黑" charset="0"/>
              </a:rPr>
              <a:t>独热处理</a:t>
            </a:r>
            <a:endParaRPr lang="zh-CN" altLang="en-US" sz="1800" b="1" dirty="0">
              <a:solidFill>
                <a:srgbClr val="565F69"/>
              </a:solidFill>
              <a:latin typeface="Century Gothic"/>
              <a:ea typeface="微软雅黑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6100049" y="1232837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FD8280"/>
                </a:solidFill>
                <a:latin typeface="Century Gothic"/>
                <a:ea typeface="微软雅黑" charset="0"/>
              </a:rPr>
              <a:t>特征工程</a:t>
            </a:r>
            <a:endParaRPr lang="zh-CN" altLang="en-US" sz="3200" b="1" dirty="0">
              <a:solidFill>
                <a:srgbClr val="FD8280"/>
              </a:solidFill>
              <a:latin typeface="Century Gothic"/>
              <a:ea typeface="微软雅黑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388267" y="3317172"/>
            <a:ext cx="221673" cy="1990765"/>
            <a:chOff x="6290604" y="2487879"/>
            <a:chExt cx="166255" cy="1493074"/>
          </a:xfrm>
        </p:grpSpPr>
        <p:sp>
          <p:nvSpPr>
            <p:cNvPr id="46" name="椭圆 45"/>
            <p:cNvSpPr/>
            <p:nvPr/>
          </p:nvSpPr>
          <p:spPr>
            <a:xfrm>
              <a:off x="6290604" y="2487879"/>
              <a:ext cx="166255" cy="16625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>
                <a:solidFill>
                  <a:srgbClr val="404040"/>
                </a:solidFill>
              </a:endParaRPr>
            </a:p>
          </p:txBody>
        </p:sp>
        <p:cxnSp>
          <p:nvCxnSpPr>
            <p:cNvPr id="63" name="直线连接符 62"/>
            <p:cNvCxnSpPr/>
            <p:nvPr/>
          </p:nvCxnSpPr>
          <p:spPr>
            <a:xfrm>
              <a:off x="6373731" y="2644980"/>
              <a:ext cx="0" cy="1335973"/>
            </a:xfrm>
            <a:prstGeom prst="line">
              <a:avLst/>
            </a:prstGeom>
            <a:ln w="19050">
              <a:solidFill>
                <a:schemeClr val="tx2">
                  <a:alpha val="99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文本框 8"/>
          <p:cNvSpPr txBox="1"/>
          <p:nvPr/>
        </p:nvSpPr>
        <p:spPr>
          <a:xfrm>
            <a:off x="8609939" y="4486337"/>
            <a:ext cx="2408275" cy="625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>
              <a:lnSpc>
                <a:spcPct val="130000"/>
              </a:lnSpc>
            </a:pPr>
            <a:r>
              <a:rPr lang="zh-CN" altLang="en-US" sz="1333" dirty="0" smtClean="0">
                <a:solidFill>
                  <a:srgbClr val="565F69"/>
                </a:solidFill>
                <a:latin typeface="微软雅黑" charset="0"/>
                <a:ea typeface="微软雅黑" charset="0"/>
              </a:rPr>
              <a:t>主要运用逻辑回归，梯度上升树，随机森林</a:t>
            </a:r>
            <a:endParaRPr lang="zh-CN" altLang="en-US" sz="1333" dirty="0">
              <a:solidFill>
                <a:srgbClr val="565F6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8609939" y="412468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1" dirty="0" smtClean="0">
                <a:solidFill>
                  <a:srgbClr val="565F69"/>
                </a:solidFill>
                <a:latin typeface="Century Gothic"/>
                <a:ea typeface="微软雅黑" charset="0"/>
              </a:rPr>
              <a:t>建立多种模型</a:t>
            </a:r>
            <a:endParaRPr lang="zh-CN" altLang="en-US" sz="1800" b="1" dirty="0">
              <a:solidFill>
                <a:srgbClr val="565F69"/>
              </a:solidFill>
              <a:latin typeface="Century Gothic"/>
              <a:ea typeface="微软雅黑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8609937" y="3647478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BFBFBF"/>
                </a:solidFill>
                <a:latin typeface="Century Gothic"/>
                <a:ea typeface="微软雅黑" charset="0"/>
              </a:rPr>
              <a:t>建模预测</a:t>
            </a:r>
            <a:endParaRPr lang="zh-CN" altLang="en-US" sz="3200" b="1" dirty="0">
              <a:solidFill>
                <a:srgbClr val="BFBFBF"/>
              </a:solidFill>
              <a:latin typeface="Century Gothic"/>
              <a:ea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059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kumimoji="1" lang="zh-CN" altLang="en-US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数据清洗</a:t>
            </a:r>
            <a:endParaRPr kumimoji="1" lang="zh-CN" altLang="en-US" dirty="0">
              <a:solidFill>
                <a:srgbClr val="404040"/>
              </a:solidFill>
              <a:latin typeface="Century Gothic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 smtClean="0"/>
              <a:t>05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90" y="1149766"/>
            <a:ext cx="5273497" cy="3109229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135" y="334455"/>
            <a:ext cx="3912551" cy="271187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793" y="3464325"/>
            <a:ext cx="3975234" cy="27553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10422" y="2969358"/>
            <a:ext cx="1052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Before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7711" y="6219646"/>
            <a:ext cx="1052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5221" y="4380320"/>
            <a:ext cx="2972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2"/>
                </a:solidFill>
              </a:rPr>
              <a:t>基于</a:t>
            </a:r>
            <a:r>
              <a:rPr lang="en-US" altLang="zh-CN" dirty="0" smtClean="0">
                <a:solidFill>
                  <a:schemeClr val="bg2"/>
                </a:solidFill>
              </a:rPr>
              <a:t>KNN</a:t>
            </a:r>
            <a:r>
              <a:rPr lang="zh-CN" altLang="en-US" dirty="0" smtClean="0">
                <a:solidFill>
                  <a:schemeClr val="bg2"/>
                </a:solidFill>
              </a:rPr>
              <a:t>的数据填充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1469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kumimoji="1" lang="zh-CN" altLang="en-US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数据清洗</a:t>
            </a:r>
            <a:endParaRPr kumimoji="1" lang="zh-CN" altLang="en-US" dirty="0">
              <a:solidFill>
                <a:srgbClr val="404040"/>
              </a:solidFill>
              <a:latin typeface="Century Gothic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 smtClean="0"/>
              <a:t>06</a:t>
            </a:r>
            <a:endParaRPr kumimoji="1" lang="zh-CN" altLang="en-US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135" y="334455"/>
            <a:ext cx="3912551" cy="27118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10422" y="2969358"/>
            <a:ext cx="1052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Before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7711" y="6219646"/>
            <a:ext cx="1052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After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7" y="822482"/>
            <a:ext cx="5759902" cy="562799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729" y="3431023"/>
            <a:ext cx="4131361" cy="28635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79010" y="6450478"/>
            <a:ext cx="4031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2"/>
                </a:solidFill>
              </a:rPr>
              <a:t>模型评估：缺失值填充较集中，误差稍大</a:t>
            </a:r>
            <a:endParaRPr lang="zh-CN" altLang="en-US" sz="1600" dirty="0">
              <a:solidFill>
                <a:schemeClr val="bg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3497" y="6398720"/>
            <a:ext cx="3078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bg2"/>
                </a:solidFill>
              </a:rPr>
              <a:t>LinearRegression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1787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kumimoji="1" lang="zh-CN" altLang="en-US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数据清洗</a:t>
            </a:r>
            <a:endParaRPr kumimoji="1" lang="zh-CN" altLang="en-US" dirty="0">
              <a:solidFill>
                <a:srgbClr val="404040"/>
              </a:solidFill>
              <a:latin typeface="Century Gothic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 smtClean="0"/>
              <a:t>07</a:t>
            </a:r>
            <a:endParaRPr kumimoji="1" lang="zh-CN" altLang="en-US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135" y="334455"/>
            <a:ext cx="3912551" cy="27118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10422" y="2969358"/>
            <a:ext cx="1052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Before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7711" y="6219646"/>
            <a:ext cx="1052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After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3715"/>
            <a:ext cx="5676800" cy="54259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6275" y="6294559"/>
            <a:ext cx="3804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bg2"/>
                </a:solidFill>
              </a:rPr>
              <a:t>GradientBoostClassifier</a:t>
            </a:r>
            <a:endParaRPr lang="zh-CN" altLang="en-US" dirty="0">
              <a:solidFill>
                <a:schemeClr val="bg2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301" y="3320860"/>
            <a:ext cx="4182218" cy="289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565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kumimoji="1" lang="zh-CN" altLang="en-US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数据清洗</a:t>
            </a:r>
            <a:endParaRPr kumimoji="1" lang="zh-CN" altLang="en-US" dirty="0">
              <a:solidFill>
                <a:srgbClr val="404040"/>
              </a:solidFill>
              <a:latin typeface="Century Gothic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 smtClean="0"/>
              <a:t>08</a:t>
            </a:r>
            <a:endParaRPr kumimoji="1" lang="zh-CN" altLang="en-US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135" y="334455"/>
            <a:ext cx="3912551" cy="27118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10422" y="2969358"/>
            <a:ext cx="1052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Before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7711" y="6219646"/>
            <a:ext cx="1052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After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56" y="1077008"/>
            <a:ext cx="5502117" cy="290347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996" y="3431023"/>
            <a:ext cx="4104827" cy="284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5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pPr lvl="0"/>
            <a:r>
              <a:rPr kumimoji="1" lang="en-US" altLang="zh-CN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2 0 2 1 Q G </a:t>
            </a:r>
            <a:r>
              <a:rPr kumimoji="1" lang="zh-CN" altLang="en-US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工 作 室 中 期 考 核 答 辩</a:t>
            </a:r>
            <a:endParaRPr kumimoji="1" lang="zh-CN" altLang="en-US" dirty="0">
              <a:solidFill>
                <a:srgbClr val="404040"/>
              </a:solidFill>
              <a:latin typeface="Century Gothic"/>
              <a:ea typeface="微软雅黑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33" y="3261755"/>
            <a:ext cx="12192000" cy="3325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>
              <a:solidFill>
                <a:srgbClr val="40404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58603" y="1535875"/>
            <a:ext cx="221673" cy="2002971"/>
            <a:chOff x="643356" y="1151906"/>
            <a:chExt cx="166255" cy="1502228"/>
          </a:xfrm>
        </p:grpSpPr>
        <p:sp>
          <p:nvSpPr>
            <p:cNvPr id="19" name="椭圆 18"/>
            <p:cNvSpPr/>
            <p:nvPr/>
          </p:nvSpPr>
          <p:spPr>
            <a:xfrm>
              <a:off x="643356" y="2487879"/>
              <a:ext cx="166255" cy="16625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>
                <a:solidFill>
                  <a:srgbClr val="404040"/>
                </a:solidFill>
              </a:endParaRPr>
            </a:p>
          </p:txBody>
        </p:sp>
        <p:cxnSp>
          <p:nvCxnSpPr>
            <p:cNvPr id="21" name="直线连接符 20"/>
            <p:cNvCxnSpPr>
              <a:stCxn id="19" idx="0"/>
            </p:cNvCxnSpPr>
            <p:nvPr/>
          </p:nvCxnSpPr>
          <p:spPr>
            <a:xfrm flipV="1">
              <a:off x="726484" y="1151906"/>
              <a:ext cx="0" cy="1335973"/>
            </a:xfrm>
            <a:prstGeom prst="line">
              <a:avLst/>
            </a:prstGeom>
            <a:ln w="19050">
              <a:solidFill>
                <a:schemeClr val="accent1">
                  <a:alpha val="99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文本框 8"/>
          <p:cNvSpPr txBox="1"/>
          <p:nvPr/>
        </p:nvSpPr>
        <p:spPr>
          <a:xfrm>
            <a:off x="1080277" y="2071695"/>
            <a:ext cx="2408275" cy="625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>
              <a:lnSpc>
                <a:spcPct val="130000"/>
              </a:lnSpc>
            </a:pPr>
            <a:r>
              <a:rPr lang="zh-CN" altLang="en-US" sz="1333" dirty="0" smtClean="0">
                <a:solidFill>
                  <a:srgbClr val="565F69"/>
                </a:solidFill>
                <a:latin typeface="微软雅黑" charset="0"/>
                <a:ea typeface="微软雅黑" charset="0"/>
              </a:rPr>
              <a:t>使用</a:t>
            </a:r>
            <a:r>
              <a:rPr lang="en-US" altLang="zh-CN" sz="1333" dirty="0" err="1" smtClean="0">
                <a:solidFill>
                  <a:srgbClr val="565F69"/>
                </a:solidFill>
                <a:latin typeface="微软雅黑" charset="0"/>
                <a:ea typeface="微软雅黑" charset="0"/>
              </a:rPr>
              <a:t>snsborn</a:t>
            </a:r>
            <a:r>
              <a:rPr lang="zh-CN" altLang="en-US" sz="1333" dirty="0" smtClean="0">
                <a:solidFill>
                  <a:srgbClr val="565F69"/>
                </a:solidFill>
                <a:latin typeface="微软雅黑" charset="0"/>
                <a:ea typeface="微软雅黑" charset="0"/>
              </a:rPr>
              <a:t>来可视化数据，探索数据之间的联系</a:t>
            </a:r>
            <a:endParaRPr lang="zh-CN" altLang="en-US" sz="1333" dirty="0">
              <a:solidFill>
                <a:srgbClr val="565F6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080276" y="171004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1" dirty="0" smtClean="0">
                <a:solidFill>
                  <a:srgbClr val="565F69"/>
                </a:solidFill>
                <a:latin typeface="Century Gothic"/>
                <a:ea typeface="微软雅黑" charset="0"/>
              </a:rPr>
              <a:t>数据可视化</a:t>
            </a:r>
            <a:endParaRPr lang="zh-CN" altLang="en-US" sz="1800" b="1" dirty="0">
              <a:solidFill>
                <a:srgbClr val="565F69"/>
              </a:solidFill>
              <a:latin typeface="Century Gothic"/>
              <a:ea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080274" y="1232837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0FCAB7"/>
                </a:solidFill>
                <a:latin typeface="Century Gothic"/>
                <a:ea typeface="微软雅黑" charset="0"/>
              </a:rPr>
              <a:t>数据探索</a:t>
            </a:r>
            <a:endParaRPr lang="zh-CN" altLang="en-US" sz="3200" b="1" dirty="0">
              <a:solidFill>
                <a:srgbClr val="0FCAB7"/>
              </a:solidFill>
              <a:latin typeface="Century Gothic"/>
              <a:ea typeface="微软雅黑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368491" y="3317172"/>
            <a:ext cx="221673" cy="1990765"/>
            <a:chOff x="2525772" y="2487879"/>
            <a:chExt cx="166255" cy="1493074"/>
          </a:xfrm>
        </p:grpSpPr>
        <p:sp>
          <p:nvSpPr>
            <p:cNvPr id="42" name="椭圆 41"/>
            <p:cNvSpPr/>
            <p:nvPr/>
          </p:nvSpPr>
          <p:spPr>
            <a:xfrm>
              <a:off x="2525772" y="2487879"/>
              <a:ext cx="166255" cy="16625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>
                <a:solidFill>
                  <a:srgbClr val="404040"/>
                </a:solidFill>
              </a:endParaRPr>
            </a:p>
          </p:txBody>
        </p:sp>
        <p:cxnSp>
          <p:nvCxnSpPr>
            <p:cNvPr id="55" name="直线连接符 54"/>
            <p:cNvCxnSpPr/>
            <p:nvPr/>
          </p:nvCxnSpPr>
          <p:spPr>
            <a:xfrm>
              <a:off x="2608900" y="2644980"/>
              <a:ext cx="0" cy="1335973"/>
            </a:xfrm>
            <a:prstGeom prst="line">
              <a:avLst/>
            </a:prstGeom>
            <a:ln w="19050">
              <a:solidFill>
                <a:schemeClr val="accent2">
                  <a:alpha val="99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文本框 8"/>
          <p:cNvSpPr txBox="1"/>
          <p:nvPr/>
        </p:nvSpPr>
        <p:spPr>
          <a:xfrm>
            <a:off x="3590165" y="4486337"/>
            <a:ext cx="2408275" cy="35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>
              <a:lnSpc>
                <a:spcPct val="130000"/>
              </a:lnSpc>
            </a:pPr>
            <a:r>
              <a:rPr lang="zh-CN" altLang="en-US" sz="1333" dirty="0" smtClean="0">
                <a:solidFill>
                  <a:srgbClr val="565F69"/>
                </a:solidFill>
                <a:latin typeface="微软雅黑" charset="0"/>
                <a:ea typeface="微软雅黑" charset="0"/>
              </a:rPr>
              <a:t>通过建模拟合预测缺失值</a:t>
            </a:r>
            <a:endParaRPr lang="zh-CN" altLang="en-US" sz="1333" dirty="0">
              <a:solidFill>
                <a:srgbClr val="565F6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590164" y="412468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1" dirty="0" smtClean="0">
                <a:solidFill>
                  <a:srgbClr val="565F69"/>
                </a:solidFill>
                <a:latin typeface="Century Gothic"/>
                <a:ea typeface="微软雅黑" charset="0"/>
              </a:rPr>
              <a:t>处理缺失值</a:t>
            </a:r>
            <a:endParaRPr lang="zh-CN" altLang="en-US" sz="1800" b="1" dirty="0">
              <a:solidFill>
                <a:srgbClr val="565F69"/>
              </a:solidFill>
              <a:latin typeface="Century Gothic"/>
              <a:ea typeface="微软雅黑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590162" y="3647478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FDD031"/>
                </a:solidFill>
                <a:latin typeface="Century Gothic"/>
                <a:ea typeface="微软雅黑" charset="0"/>
              </a:rPr>
              <a:t>数据清洗</a:t>
            </a:r>
            <a:endParaRPr lang="zh-CN" altLang="en-US" sz="3200" b="1" dirty="0">
              <a:solidFill>
                <a:srgbClr val="FDD031"/>
              </a:solidFill>
              <a:latin typeface="Century Gothic"/>
              <a:ea typeface="微软雅黑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878379" y="1535875"/>
            <a:ext cx="221673" cy="2002971"/>
            <a:chOff x="4408188" y="1151906"/>
            <a:chExt cx="166255" cy="1502228"/>
          </a:xfrm>
        </p:grpSpPr>
        <p:sp>
          <p:nvSpPr>
            <p:cNvPr id="43" name="椭圆 42"/>
            <p:cNvSpPr/>
            <p:nvPr/>
          </p:nvSpPr>
          <p:spPr>
            <a:xfrm>
              <a:off x="4408188" y="2487879"/>
              <a:ext cx="166255" cy="16625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>
                <a:solidFill>
                  <a:srgbClr val="404040"/>
                </a:solidFill>
              </a:endParaRPr>
            </a:p>
          </p:txBody>
        </p:sp>
        <p:cxnSp>
          <p:nvCxnSpPr>
            <p:cNvPr id="59" name="直线连接符 58"/>
            <p:cNvCxnSpPr/>
            <p:nvPr/>
          </p:nvCxnSpPr>
          <p:spPr>
            <a:xfrm flipV="1">
              <a:off x="4491315" y="1151906"/>
              <a:ext cx="0" cy="1335973"/>
            </a:xfrm>
            <a:prstGeom prst="line">
              <a:avLst/>
            </a:prstGeom>
            <a:ln w="19050">
              <a:solidFill>
                <a:schemeClr val="accent3">
                  <a:alpha val="99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文本框 8"/>
          <p:cNvSpPr txBox="1"/>
          <p:nvPr/>
        </p:nvSpPr>
        <p:spPr>
          <a:xfrm>
            <a:off x="6100051" y="2071695"/>
            <a:ext cx="2408275" cy="625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>
              <a:lnSpc>
                <a:spcPct val="130000"/>
              </a:lnSpc>
            </a:pPr>
            <a:r>
              <a:rPr lang="zh-CN" altLang="en-US" sz="1333" dirty="0" smtClean="0">
                <a:solidFill>
                  <a:srgbClr val="565F69"/>
                </a:solidFill>
                <a:latin typeface="微软雅黑" charset="0"/>
                <a:ea typeface="微软雅黑" charset="0"/>
              </a:rPr>
              <a:t>对字符串标签进行独热处理，提高模型准确性</a:t>
            </a:r>
            <a:endParaRPr lang="zh-CN" altLang="en-US" sz="1333" dirty="0">
              <a:solidFill>
                <a:srgbClr val="565F6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100051" y="171004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1" dirty="0" smtClean="0">
                <a:solidFill>
                  <a:srgbClr val="565F69"/>
                </a:solidFill>
                <a:latin typeface="Century Gothic"/>
                <a:ea typeface="微软雅黑" charset="0"/>
              </a:rPr>
              <a:t>独热处理</a:t>
            </a:r>
            <a:endParaRPr lang="zh-CN" altLang="en-US" sz="1800" b="1" dirty="0">
              <a:solidFill>
                <a:srgbClr val="565F69"/>
              </a:solidFill>
              <a:latin typeface="Century Gothic"/>
              <a:ea typeface="微软雅黑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6100049" y="1232837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FD8280"/>
                </a:solidFill>
                <a:latin typeface="Century Gothic"/>
                <a:ea typeface="微软雅黑" charset="0"/>
              </a:rPr>
              <a:t>特征工程</a:t>
            </a:r>
            <a:endParaRPr lang="zh-CN" altLang="en-US" sz="3200" b="1" dirty="0">
              <a:solidFill>
                <a:srgbClr val="FD8280"/>
              </a:solidFill>
              <a:latin typeface="Century Gothic"/>
              <a:ea typeface="微软雅黑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388267" y="3317172"/>
            <a:ext cx="221673" cy="1990765"/>
            <a:chOff x="6290604" y="2487879"/>
            <a:chExt cx="166255" cy="1493074"/>
          </a:xfrm>
        </p:grpSpPr>
        <p:sp>
          <p:nvSpPr>
            <p:cNvPr id="46" name="椭圆 45"/>
            <p:cNvSpPr/>
            <p:nvPr/>
          </p:nvSpPr>
          <p:spPr>
            <a:xfrm>
              <a:off x="6290604" y="2487879"/>
              <a:ext cx="166255" cy="16625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>
                <a:solidFill>
                  <a:srgbClr val="404040"/>
                </a:solidFill>
              </a:endParaRPr>
            </a:p>
          </p:txBody>
        </p:sp>
        <p:cxnSp>
          <p:nvCxnSpPr>
            <p:cNvPr id="63" name="直线连接符 62"/>
            <p:cNvCxnSpPr/>
            <p:nvPr/>
          </p:nvCxnSpPr>
          <p:spPr>
            <a:xfrm>
              <a:off x="6373731" y="2644980"/>
              <a:ext cx="0" cy="1335973"/>
            </a:xfrm>
            <a:prstGeom prst="line">
              <a:avLst/>
            </a:prstGeom>
            <a:ln w="19050">
              <a:solidFill>
                <a:schemeClr val="tx2">
                  <a:alpha val="99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文本框 8"/>
          <p:cNvSpPr txBox="1"/>
          <p:nvPr/>
        </p:nvSpPr>
        <p:spPr>
          <a:xfrm>
            <a:off x="8609939" y="4486337"/>
            <a:ext cx="2408275" cy="625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>
              <a:lnSpc>
                <a:spcPct val="130000"/>
              </a:lnSpc>
            </a:pPr>
            <a:r>
              <a:rPr lang="zh-CN" altLang="en-US" sz="1333" dirty="0" smtClean="0">
                <a:solidFill>
                  <a:srgbClr val="565F69"/>
                </a:solidFill>
                <a:latin typeface="微软雅黑" charset="0"/>
                <a:ea typeface="微软雅黑" charset="0"/>
              </a:rPr>
              <a:t>主要运用逻辑回归，梯度上升树，随机森林</a:t>
            </a:r>
            <a:endParaRPr lang="zh-CN" altLang="en-US" sz="1333" dirty="0">
              <a:solidFill>
                <a:srgbClr val="565F6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8609939" y="412468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1" dirty="0" smtClean="0">
                <a:solidFill>
                  <a:srgbClr val="565F69"/>
                </a:solidFill>
                <a:latin typeface="Century Gothic"/>
                <a:ea typeface="微软雅黑" charset="0"/>
              </a:rPr>
              <a:t>建立多种模型</a:t>
            </a:r>
            <a:endParaRPr lang="zh-CN" altLang="en-US" sz="1800" b="1" dirty="0">
              <a:solidFill>
                <a:srgbClr val="565F69"/>
              </a:solidFill>
              <a:latin typeface="Century Gothic"/>
              <a:ea typeface="微软雅黑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8609937" y="3647478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BFBFBF"/>
                </a:solidFill>
                <a:latin typeface="Century Gothic"/>
                <a:ea typeface="微软雅黑" charset="0"/>
              </a:rPr>
              <a:t>建模预测</a:t>
            </a:r>
            <a:endParaRPr lang="zh-CN" altLang="en-US" sz="3200" b="1" dirty="0">
              <a:solidFill>
                <a:srgbClr val="BFBFBF"/>
              </a:solidFill>
              <a:latin typeface="Century Gothic"/>
              <a:ea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40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kumimoji="1" lang="zh-CN" altLang="en-US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特征工程</a:t>
            </a:r>
            <a:endParaRPr kumimoji="1" lang="zh-CN" altLang="en-US" dirty="0">
              <a:solidFill>
                <a:srgbClr val="404040"/>
              </a:solidFill>
              <a:latin typeface="Century Gothic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 smtClean="0"/>
              <a:t>09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352" y="532862"/>
            <a:ext cx="89730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9927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kumimoji="1" lang="zh-CN" altLang="en-US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特征工程</a:t>
            </a:r>
            <a:endParaRPr kumimoji="1" lang="zh-CN" altLang="en-US" dirty="0">
              <a:solidFill>
                <a:srgbClr val="404040"/>
              </a:solidFill>
              <a:latin typeface="Century Gothic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 smtClean="0"/>
              <a:t>10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894" y="736088"/>
            <a:ext cx="8588484" cy="3177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57310" y="3913903"/>
            <a:ext cx="1475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独热处理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3996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kumimoji="1" lang="zh-CN" altLang="en-US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特征工程</a:t>
            </a:r>
            <a:endParaRPr kumimoji="1" lang="zh-CN" altLang="en-US" dirty="0">
              <a:solidFill>
                <a:srgbClr val="404040"/>
              </a:solidFill>
              <a:latin typeface="Century Gothic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 smtClean="0"/>
              <a:t>11</a:t>
            </a:r>
            <a:endParaRPr kumimoji="1"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972" y="5318317"/>
            <a:ext cx="7043892" cy="50219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57" y="1434483"/>
            <a:ext cx="7768321" cy="359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2800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pPr lvl="0"/>
            <a:r>
              <a:rPr kumimoji="1" lang="en-US" altLang="zh-CN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2 0 2 1 Q G </a:t>
            </a:r>
            <a:r>
              <a:rPr kumimoji="1" lang="zh-CN" altLang="en-US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工 作 室 中 期 考 核 答 辩</a:t>
            </a:r>
            <a:endParaRPr kumimoji="1" lang="zh-CN" altLang="en-US" dirty="0">
              <a:solidFill>
                <a:srgbClr val="404040"/>
              </a:solidFill>
              <a:latin typeface="Century Gothic"/>
              <a:ea typeface="微软雅黑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33" y="3261755"/>
            <a:ext cx="12192000" cy="3325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>
              <a:solidFill>
                <a:srgbClr val="40404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58603" y="1535875"/>
            <a:ext cx="221673" cy="2002971"/>
            <a:chOff x="643356" y="1151906"/>
            <a:chExt cx="166255" cy="1502228"/>
          </a:xfrm>
        </p:grpSpPr>
        <p:sp>
          <p:nvSpPr>
            <p:cNvPr id="19" name="椭圆 18"/>
            <p:cNvSpPr/>
            <p:nvPr/>
          </p:nvSpPr>
          <p:spPr>
            <a:xfrm>
              <a:off x="643356" y="2487879"/>
              <a:ext cx="166255" cy="16625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>
                <a:solidFill>
                  <a:srgbClr val="404040"/>
                </a:solidFill>
              </a:endParaRPr>
            </a:p>
          </p:txBody>
        </p:sp>
        <p:cxnSp>
          <p:nvCxnSpPr>
            <p:cNvPr id="21" name="直线连接符 20"/>
            <p:cNvCxnSpPr>
              <a:stCxn id="19" idx="0"/>
            </p:cNvCxnSpPr>
            <p:nvPr/>
          </p:nvCxnSpPr>
          <p:spPr>
            <a:xfrm flipV="1">
              <a:off x="726484" y="1151906"/>
              <a:ext cx="0" cy="1335973"/>
            </a:xfrm>
            <a:prstGeom prst="line">
              <a:avLst/>
            </a:prstGeom>
            <a:ln w="19050">
              <a:solidFill>
                <a:schemeClr val="accent1">
                  <a:alpha val="99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文本框 8"/>
          <p:cNvSpPr txBox="1"/>
          <p:nvPr/>
        </p:nvSpPr>
        <p:spPr>
          <a:xfrm>
            <a:off x="1080277" y="2071695"/>
            <a:ext cx="2408275" cy="625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>
              <a:lnSpc>
                <a:spcPct val="130000"/>
              </a:lnSpc>
            </a:pPr>
            <a:r>
              <a:rPr lang="zh-CN" altLang="en-US" sz="1333" dirty="0" smtClean="0">
                <a:solidFill>
                  <a:srgbClr val="565F69"/>
                </a:solidFill>
                <a:latin typeface="微软雅黑" charset="0"/>
                <a:ea typeface="微软雅黑" charset="0"/>
              </a:rPr>
              <a:t>使用</a:t>
            </a:r>
            <a:r>
              <a:rPr lang="en-US" altLang="zh-CN" sz="1333" dirty="0" err="1" smtClean="0">
                <a:solidFill>
                  <a:srgbClr val="565F69"/>
                </a:solidFill>
                <a:latin typeface="微软雅黑" charset="0"/>
                <a:ea typeface="微软雅黑" charset="0"/>
              </a:rPr>
              <a:t>snsborn</a:t>
            </a:r>
            <a:r>
              <a:rPr lang="zh-CN" altLang="en-US" sz="1333" dirty="0" smtClean="0">
                <a:solidFill>
                  <a:srgbClr val="565F69"/>
                </a:solidFill>
                <a:latin typeface="微软雅黑" charset="0"/>
                <a:ea typeface="微软雅黑" charset="0"/>
              </a:rPr>
              <a:t>来可视化数据，探索数据之间的联系</a:t>
            </a:r>
            <a:endParaRPr lang="zh-CN" altLang="en-US" sz="1333" dirty="0">
              <a:solidFill>
                <a:srgbClr val="565F6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080276" y="171004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1" dirty="0" smtClean="0">
                <a:solidFill>
                  <a:srgbClr val="565F69"/>
                </a:solidFill>
                <a:latin typeface="Century Gothic"/>
                <a:ea typeface="微软雅黑" charset="0"/>
              </a:rPr>
              <a:t>数据可视化</a:t>
            </a:r>
            <a:endParaRPr lang="zh-CN" altLang="en-US" sz="1800" b="1" dirty="0">
              <a:solidFill>
                <a:srgbClr val="565F69"/>
              </a:solidFill>
              <a:latin typeface="Century Gothic"/>
              <a:ea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080274" y="1232837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0FCAB7"/>
                </a:solidFill>
                <a:latin typeface="Century Gothic"/>
                <a:ea typeface="微软雅黑" charset="0"/>
              </a:rPr>
              <a:t>数据探索</a:t>
            </a:r>
            <a:endParaRPr lang="zh-CN" altLang="en-US" sz="3200" b="1" dirty="0">
              <a:solidFill>
                <a:srgbClr val="0FCAB7"/>
              </a:solidFill>
              <a:latin typeface="Century Gothic"/>
              <a:ea typeface="微软雅黑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368491" y="3317172"/>
            <a:ext cx="221673" cy="1990765"/>
            <a:chOff x="2525772" y="2487879"/>
            <a:chExt cx="166255" cy="1493074"/>
          </a:xfrm>
        </p:grpSpPr>
        <p:sp>
          <p:nvSpPr>
            <p:cNvPr id="42" name="椭圆 41"/>
            <p:cNvSpPr/>
            <p:nvPr/>
          </p:nvSpPr>
          <p:spPr>
            <a:xfrm>
              <a:off x="2525772" y="2487879"/>
              <a:ext cx="166255" cy="16625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>
                <a:solidFill>
                  <a:srgbClr val="404040"/>
                </a:solidFill>
              </a:endParaRPr>
            </a:p>
          </p:txBody>
        </p:sp>
        <p:cxnSp>
          <p:nvCxnSpPr>
            <p:cNvPr id="55" name="直线连接符 54"/>
            <p:cNvCxnSpPr/>
            <p:nvPr/>
          </p:nvCxnSpPr>
          <p:spPr>
            <a:xfrm>
              <a:off x="2608900" y="2644980"/>
              <a:ext cx="0" cy="1335973"/>
            </a:xfrm>
            <a:prstGeom prst="line">
              <a:avLst/>
            </a:prstGeom>
            <a:ln w="19050">
              <a:solidFill>
                <a:schemeClr val="accent2">
                  <a:alpha val="99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文本框 8"/>
          <p:cNvSpPr txBox="1"/>
          <p:nvPr/>
        </p:nvSpPr>
        <p:spPr>
          <a:xfrm>
            <a:off x="3590165" y="4486337"/>
            <a:ext cx="2408275" cy="35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>
              <a:lnSpc>
                <a:spcPct val="130000"/>
              </a:lnSpc>
            </a:pPr>
            <a:r>
              <a:rPr lang="zh-CN" altLang="en-US" sz="1333" dirty="0" smtClean="0">
                <a:solidFill>
                  <a:srgbClr val="565F69"/>
                </a:solidFill>
                <a:latin typeface="微软雅黑" charset="0"/>
                <a:ea typeface="微软雅黑" charset="0"/>
              </a:rPr>
              <a:t>通过建模拟合预测缺失值</a:t>
            </a:r>
            <a:endParaRPr lang="zh-CN" altLang="en-US" sz="1333" dirty="0">
              <a:solidFill>
                <a:srgbClr val="565F6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590164" y="412468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1" dirty="0" smtClean="0">
                <a:solidFill>
                  <a:srgbClr val="565F69"/>
                </a:solidFill>
                <a:latin typeface="Century Gothic"/>
                <a:ea typeface="微软雅黑" charset="0"/>
              </a:rPr>
              <a:t>处理缺失值</a:t>
            </a:r>
            <a:endParaRPr lang="zh-CN" altLang="en-US" sz="1800" b="1" dirty="0">
              <a:solidFill>
                <a:srgbClr val="565F69"/>
              </a:solidFill>
              <a:latin typeface="Century Gothic"/>
              <a:ea typeface="微软雅黑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590162" y="3647478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FDD031"/>
                </a:solidFill>
                <a:latin typeface="Century Gothic"/>
                <a:ea typeface="微软雅黑" charset="0"/>
              </a:rPr>
              <a:t>数据清洗</a:t>
            </a:r>
            <a:endParaRPr lang="zh-CN" altLang="en-US" sz="3200" b="1" dirty="0">
              <a:solidFill>
                <a:srgbClr val="FDD031"/>
              </a:solidFill>
              <a:latin typeface="Century Gothic"/>
              <a:ea typeface="微软雅黑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878379" y="1535875"/>
            <a:ext cx="221673" cy="2002971"/>
            <a:chOff x="4408188" y="1151906"/>
            <a:chExt cx="166255" cy="1502228"/>
          </a:xfrm>
        </p:grpSpPr>
        <p:sp>
          <p:nvSpPr>
            <p:cNvPr id="43" name="椭圆 42"/>
            <p:cNvSpPr/>
            <p:nvPr/>
          </p:nvSpPr>
          <p:spPr>
            <a:xfrm>
              <a:off x="4408188" y="2487879"/>
              <a:ext cx="166255" cy="16625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>
                <a:solidFill>
                  <a:srgbClr val="404040"/>
                </a:solidFill>
              </a:endParaRPr>
            </a:p>
          </p:txBody>
        </p:sp>
        <p:cxnSp>
          <p:nvCxnSpPr>
            <p:cNvPr id="59" name="直线连接符 58"/>
            <p:cNvCxnSpPr/>
            <p:nvPr/>
          </p:nvCxnSpPr>
          <p:spPr>
            <a:xfrm flipV="1">
              <a:off x="4491315" y="1151906"/>
              <a:ext cx="0" cy="1335973"/>
            </a:xfrm>
            <a:prstGeom prst="line">
              <a:avLst/>
            </a:prstGeom>
            <a:ln w="19050">
              <a:solidFill>
                <a:schemeClr val="accent3">
                  <a:alpha val="99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文本框 8"/>
          <p:cNvSpPr txBox="1"/>
          <p:nvPr/>
        </p:nvSpPr>
        <p:spPr>
          <a:xfrm>
            <a:off x="6100051" y="2071695"/>
            <a:ext cx="2408275" cy="625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>
              <a:lnSpc>
                <a:spcPct val="130000"/>
              </a:lnSpc>
            </a:pPr>
            <a:r>
              <a:rPr lang="zh-CN" altLang="en-US" sz="1333" dirty="0" smtClean="0">
                <a:solidFill>
                  <a:srgbClr val="565F69"/>
                </a:solidFill>
                <a:latin typeface="微软雅黑" charset="0"/>
                <a:ea typeface="微软雅黑" charset="0"/>
              </a:rPr>
              <a:t>对字符串标签进行独热处理，提高模型准确性</a:t>
            </a:r>
            <a:endParaRPr lang="zh-CN" altLang="en-US" sz="1333" dirty="0">
              <a:solidFill>
                <a:srgbClr val="565F6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100051" y="171004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1" dirty="0" smtClean="0">
                <a:solidFill>
                  <a:srgbClr val="565F69"/>
                </a:solidFill>
                <a:latin typeface="Century Gothic"/>
                <a:ea typeface="微软雅黑" charset="0"/>
              </a:rPr>
              <a:t>独热处理</a:t>
            </a:r>
            <a:endParaRPr lang="zh-CN" altLang="en-US" sz="1800" b="1" dirty="0">
              <a:solidFill>
                <a:srgbClr val="565F69"/>
              </a:solidFill>
              <a:latin typeface="Century Gothic"/>
              <a:ea typeface="微软雅黑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6100049" y="1232837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FD8280"/>
                </a:solidFill>
                <a:latin typeface="Century Gothic"/>
                <a:ea typeface="微软雅黑" charset="0"/>
              </a:rPr>
              <a:t>特征工程</a:t>
            </a:r>
            <a:endParaRPr lang="zh-CN" altLang="en-US" sz="3200" b="1" dirty="0">
              <a:solidFill>
                <a:srgbClr val="FD8280"/>
              </a:solidFill>
              <a:latin typeface="Century Gothic"/>
              <a:ea typeface="微软雅黑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388267" y="3317172"/>
            <a:ext cx="221673" cy="1990765"/>
            <a:chOff x="6290604" y="2487879"/>
            <a:chExt cx="166255" cy="1493074"/>
          </a:xfrm>
        </p:grpSpPr>
        <p:sp>
          <p:nvSpPr>
            <p:cNvPr id="46" name="椭圆 45"/>
            <p:cNvSpPr/>
            <p:nvPr/>
          </p:nvSpPr>
          <p:spPr>
            <a:xfrm>
              <a:off x="6290604" y="2487879"/>
              <a:ext cx="166255" cy="16625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>
                <a:solidFill>
                  <a:srgbClr val="404040"/>
                </a:solidFill>
              </a:endParaRPr>
            </a:p>
          </p:txBody>
        </p:sp>
        <p:cxnSp>
          <p:nvCxnSpPr>
            <p:cNvPr id="63" name="直线连接符 62"/>
            <p:cNvCxnSpPr/>
            <p:nvPr/>
          </p:nvCxnSpPr>
          <p:spPr>
            <a:xfrm>
              <a:off x="6373731" y="2644980"/>
              <a:ext cx="0" cy="1335973"/>
            </a:xfrm>
            <a:prstGeom prst="line">
              <a:avLst/>
            </a:prstGeom>
            <a:ln w="19050">
              <a:solidFill>
                <a:schemeClr val="tx2">
                  <a:alpha val="99000"/>
                </a:schemeClr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文本框 8"/>
          <p:cNvSpPr txBox="1"/>
          <p:nvPr/>
        </p:nvSpPr>
        <p:spPr>
          <a:xfrm>
            <a:off x="8609939" y="4486337"/>
            <a:ext cx="2408275" cy="625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>
              <a:lnSpc>
                <a:spcPct val="130000"/>
              </a:lnSpc>
            </a:pPr>
            <a:r>
              <a:rPr lang="zh-CN" altLang="en-US" sz="1333" dirty="0" smtClean="0">
                <a:solidFill>
                  <a:srgbClr val="565F69"/>
                </a:solidFill>
                <a:latin typeface="微软雅黑" charset="0"/>
                <a:ea typeface="微软雅黑" charset="0"/>
              </a:rPr>
              <a:t>主要运用逻辑回归，梯度上升树，随机森林</a:t>
            </a:r>
            <a:endParaRPr lang="zh-CN" altLang="en-US" sz="1333" dirty="0">
              <a:solidFill>
                <a:srgbClr val="565F6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8609939" y="412468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1" dirty="0" smtClean="0">
                <a:solidFill>
                  <a:srgbClr val="565F69"/>
                </a:solidFill>
                <a:latin typeface="Century Gothic"/>
                <a:ea typeface="微软雅黑" charset="0"/>
              </a:rPr>
              <a:t>建立多种模型</a:t>
            </a:r>
            <a:endParaRPr lang="zh-CN" altLang="en-US" sz="1800" b="1" dirty="0">
              <a:solidFill>
                <a:srgbClr val="565F69"/>
              </a:solidFill>
              <a:latin typeface="Century Gothic"/>
              <a:ea typeface="微软雅黑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8609937" y="3647478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BFBFBF"/>
                </a:solidFill>
                <a:latin typeface="Century Gothic"/>
                <a:ea typeface="微软雅黑" charset="0"/>
              </a:rPr>
              <a:t>建模预测</a:t>
            </a:r>
            <a:endParaRPr lang="zh-CN" altLang="en-US" sz="3200" b="1" dirty="0">
              <a:solidFill>
                <a:srgbClr val="BFBFBF"/>
              </a:solidFill>
              <a:latin typeface="Century Gothic"/>
              <a:ea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876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kumimoji="1" lang="zh-CN" altLang="en-US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建模预测</a:t>
            </a:r>
            <a:endParaRPr kumimoji="1" lang="zh-CN" altLang="en-US" dirty="0">
              <a:solidFill>
                <a:srgbClr val="404040"/>
              </a:solidFill>
              <a:latin typeface="Century Gothic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 smtClean="0"/>
              <a:t>12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30" y="1551651"/>
            <a:ext cx="10394260" cy="382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399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kumimoji="1" lang="zh-CN" altLang="en-US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建模预测</a:t>
            </a:r>
            <a:endParaRPr kumimoji="1" lang="en-US" altLang="zh-CN" dirty="0" smtClean="0">
              <a:solidFill>
                <a:srgbClr val="404040"/>
              </a:solidFill>
              <a:latin typeface="Century Gothic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 smtClean="0"/>
              <a:t>13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555" y="1354345"/>
            <a:ext cx="9447542" cy="425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399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kumimoji="1" lang="en-US" altLang="zh-CN" dirty="0">
                <a:solidFill>
                  <a:srgbClr val="404040"/>
                </a:solidFill>
                <a:latin typeface="Century Gothic"/>
                <a:ea typeface="微软雅黑" charset="0"/>
              </a:rPr>
              <a:t>2 0 2 1 Q G </a:t>
            </a:r>
            <a:r>
              <a:rPr kumimoji="1" lang="zh-CN" altLang="en-US" dirty="0">
                <a:solidFill>
                  <a:srgbClr val="404040"/>
                </a:solidFill>
                <a:latin typeface="Century Gothic"/>
                <a:ea typeface="微软雅黑" charset="0"/>
              </a:rPr>
              <a:t>工 作 室 中 期 考 核 答 </a:t>
            </a:r>
            <a:r>
              <a:rPr kumimoji="1" lang="zh-CN" altLang="en-US" dirty="0" smtClean="0">
                <a:solidFill>
                  <a:srgbClr val="404040"/>
                </a:solidFill>
                <a:latin typeface="Century Gothic"/>
                <a:ea typeface="微软雅黑" charset="0"/>
              </a:rPr>
              <a:t>辩</a:t>
            </a:r>
            <a:endParaRPr kumimoji="1" lang="zh-CN" altLang="en-US" dirty="0">
              <a:solidFill>
                <a:srgbClr val="404040"/>
              </a:solidFill>
              <a:latin typeface="Century Gothic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 smtClean="0"/>
              <a:t>14</a:t>
            </a:r>
            <a:endParaRPr kumimoji="1"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29298" y="2247167"/>
            <a:ext cx="45646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 smtClean="0">
                <a:solidFill>
                  <a:schemeClr val="bg1"/>
                </a:solidFill>
                <a:latin typeface="Adobe 楷体 Std R" pitchFamily="18" charset="-122"/>
                <a:ea typeface="Adobe 楷体 Std R" pitchFamily="18" charset="-122"/>
              </a:rPr>
              <a:t>谢谢聆听</a:t>
            </a:r>
            <a:endParaRPr lang="zh-CN" altLang="en-US" sz="8000" dirty="0">
              <a:solidFill>
                <a:schemeClr val="bg1"/>
              </a:solidFill>
              <a:latin typeface="Adobe 楷体 Std R" pitchFamily="18" charset="-122"/>
              <a:ea typeface="Adobe 楷体 Std R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4565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自定义 118">
      <a:dk1>
        <a:srgbClr val="FFFFFF"/>
      </a:dk1>
      <a:lt1>
        <a:srgbClr val="404040"/>
      </a:lt1>
      <a:dk2>
        <a:srgbClr val="BFBFBF"/>
      </a:dk2>
      <a:lt2>
        <a:srgbClr val="000000"/>
      </a:lt2>
      <a:accent1>
        <a:srgbClr val="0FCAB7"/>
      </a:accent1>
      <a:accent2>
        <a:srgbClr val="FDD031"/>
      </a:accent2>
      <a:accent3>
        <a:srgbClr val="FD8280"/>
      </a:accent3>
      <a:accent4>
        <a:srgbClr val="10141A"/>
      </a:accent4>
      <a:accent5>
        <a:srgbClr val="303B45"/>
      </a:accent5>
      <a:accent6>
        <a:srgbClr val="565F69"/>
      </a:accent6>
      <a:hlink>
        <a:srgbClr val="00FFFF"/>
      </a:hlink>
      <a:folHlink>
        <a:srgbClr val="0080FF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自定义 119">
      <a:dk1>
        <a:srgbClr val="FFFFFF"/>
      </a:dk1>
      <a:lt1>
        <a:srgbClr val="404040"/>
      </a:lt1>
      <a:dk2>
        <a:srgbClr val="BFBFBF"/>
      </a:dk2>
      <a:lt2>
        <a:srgbClr val="000000"/>
      </a:lt2>
      <a:accent1>
        <a:srgbClr val="FE0000"/>
      </a:accent1>
      <a:accent2>
        <a:srgbClr val="FFD900"/>
      </a:accent2>
      <a:accent3>
        <a:srgbClr val="0EC7A9"/>
      </a:accent3>
      <a:accent4>
        <a:srgbClr val="10141A"/>
      </a:accent4>
      <a:accent5>
        <a:srgbClr val="303B45"/>
      </a:accent5>
      <a:accent6>
        <a:srgbClr val="565F69"/>
      </a:accent6>
      <a:hlink>
        <a:srgbClr val="00FFFF"/>
      </a:hlink>
      <a:folHlink>
        <a:srgbClr val="0080FF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自定义 120">
      <a:dk1>
        <a:srgbClr val="FFFFFF"/>
      </a:dk1>
      <a:lt1>
        <a:srgbClr val="404040"/>
      </a:lt1>
      <a:dk2>
        <a:srgbClr val="BFBFBF"/>
      </a:dk2>
      <a:lt2>
        <a:srgbClr val="000000"/>
      </a:lt2>
      <a:accent1>
        <a:srgbClr val="0082DE"/>
      </a:accent1>
      <a:accent2>
        <a:srgbClr val="FEB601"/>
      </a:accent2>
      <a:accent3>
        <a:srgbClr val="FA3C00"/>
      </a:accent3>
      <a:accent4>
        <a:srgbClr val="10141A"/>
      </a:accent4>
      <a:accent5>
        <a:srgbClr val="303B45"/>
      </a:accent5>
      <a:accent6>
        <a:srgbClr val="565F69"/>
      </a:accent6>
      <a:hlink>
        <a:srgbClr val="00FFFF"/>
      </a:hlink>
      <a:folHlink>
        <a:srgbClr val="0080FF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">
  <a:themeElements>
    <a:clrScheme name="自定义 118">
      <a:dk1>
        <a:srgbClr val="FFFFFF"/>
      </a:dk1>
      <a:lt1>
        <a:srgbClr val="404040"/>
      </a:lt1>
      <a:dk2>
        <a:srgbClr val="BFBFBF"/>
      </a:dk2>
      <a:lt2>
        <a:srgbClr val="000000"/>
      </a:lt2>
      <a:accent1>
        <a:srgbClr val="0FCAB7"/>
      </a:accent1>
      <a:accent2>
        <a:srgbClr val="FDD031"/>
      </a:accent2>
      <a:accent3>
        <a:srgbClr val="FD8280"/>
      </a:accent3>
      <a:accent4>
        <a:srgbClr val="10141A"/>
      </a:accent4>
      <a:accent5>
        <a:srgbClr val="303B45"/>
      </a:accent5>
      <a:accent6>
        <a:srgbClr val="565F69"/>
      </a:accent6>
      <a:hlink>
        <a:srgbClr val="00FFFF"/>
      </a:hlink>
      <a:folHlink>
        <a:srgbClr val="0080FF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6F2769-7194-4217-93D3-3AF3A4742282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sharepoint/v3/field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791</TotalTime>
  <Words>404</Words>
  <Application>Microsoft Office PowerPoint</Application>
  <PresentationFormat>自定义</PresentationFormat>
  <Paragraphs>102</Paragraphs>
  <Slides>18</Slides>
  <Notes>4</Notes>
  <HiddenSlides>0</HiddenSlides>
  <MMClips>0</MMClips>
  <ScaleCrop>false</ScaleCrop>
  <HeadingPairs>
    <vt:vector size="4" baseType="variant">
      <vt:variant>
        <vt:lpstr>主题</vt:lpstr>
      </vt:variant>
      <vt:variant>
        <vt:i4>4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Office 主题</vt:lpstr>
      <vt:lpstr>2_Office 主题</vt:lpstr>
      <vt:lpstr>3_Office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subject/>
  <dc:creator>Office PLUS</dc:creator>
  <cp:keywords/>
  <dc:description/>
  <cp:lastModifiedBy>Chris Ng</cp:lastModifiedBy>
  <cp:revision>86</cp:revision>
  <dcterms:created xsi:type="dcterms:W3CDTF">2010-04-12T23:12:02Z</dcterms:created>
  <dcterms:modified xsi:type="dcterms:W3CDTF">2021-04-17T01:47:24Z</dcterms:modified>
  <cp:category/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